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86661" y="6172200"/>
            <a:ext cx="2841838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45A29E">
              <a:alpha val="1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8076895" y="3200400"/>
            <a:ext cx="5943601" cy="5943600"/>
          </a:xfrm>
          <a:prstGeom prst="ellipse">
            <a:avLst/>
          </a:prstGeom>
          <a:solidFill>
            <a:srgbClr val="66FCF1">
              <a:alpha val="8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Text 2"/>
          <p:cNvSpPr txBox="1"/>
          <p:nvPr/>
        </p:nvSpPr>
        <p:spPr>
          <a:xfrm>
            <a:off x="685800" y="1050450"/>
            <a:ext cx="10881360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300" sz="1300">
                <a:solidFill>
                  <a:srgbClr val="45A29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BUILD ON STELLAR HACKATHON · ISTANBUL 2026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685800" y="1639561"/>
            <a:ext cx="10881360" cy="1658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399" sz="1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StelLock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685800" y="3374711"/>
            <a:ext cx="10881360" cy="474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>
                <a:solidFill>
                  <a:srgbClr val="66FCF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Trustless escrow for digital work on Stellar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685800" y="4122349"/>
            <a:ext cx="10881360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>
                <a:solidFill>
                  <a:srgbClr val="8A97A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“Proof of delivery. Not promise of delivery.”</a:t>
            </a:r>
          </a:p>
        </p:txBody>
      </p:sp>
      <p:sp>
        <p:nvSpPr>
          <p:cNvPr id="26" name="Shape 6"/>
          <p:cNvSpPr/>
          <p:nvPr/>
        </p:nvSpPr>
        <p:spPr>
          <a:xfrm>
            <a:off x="640080" y="5029200"/>
            <a:ext cx="1376173" cy="411481"/>
          </a:xfrm>
          <a:prstGeom prst="roundRect">
            <a:avLst>
              <a:gd name="adj" fmla="val 48889"/>
            </a:avLst>
          </a:prstGeom>
          <a:solidFill>
            <a:srgbClr val="151E27"/>
          </a:solidFill>
          <a:ln w="12700">
            <a:solidFill>
              <a:srgbClr val="45A29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Text 7"/>
          <p:cNvSpPr txBox="1"/>
          <p:nvPr/>
        </p:nvSpPr>
        <p:spPr>
          <a:xfrm>
            <a:off x="640080" y="5148533"/>
            <a:ext cx="137617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66FCF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On-chain ZK</a:t>
            </a:r>
          </a:p>
        </p:txBody>
      </p:sp>
      <p:sp>
        <p:nvSpPr>
          <p:cNvPr id="28" name="Shape 8"/>
          <p:cNvSpPr/>
          <p:nvPr/>
        </p:nvSpPr>
        <p:spPr>
          <a:xfrm>
            <a:off x="2244851" y="5029200"/>
            <a:ext cx="1952245" cy="411481"/>
          </a:xfrm>
          <a:prstGeom prst="roundRect">
            <a:avLst>
              <a:gd name="adj" fmla="val 48889"/>
            </a:avLst>
          </a:prstGeom>
          <a:solidFill>
            <a:srgbClr val="151E27"/>
          </a:solidFill>
          <a:ln w="12700">
            <a:solidFill>
              <a:srgbClr val="45A29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Text 9"/>
          <p:cNvSpPr txBox="1"/>
          <p:nvPr/>
        </p:nvSpPr>
        <p:spPr>
          <a:xfrm>
            <a:off x="2244851" y="5148533"/>
            <a:ext cx="195224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66FCF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Stellar - Trustless Work</a:t>
            </a:r>
          </a:p>
        </p:txBody>
      </p:sp>
      <p:sp>
        <p:nvSpPr>
          <p:cNvPr id="30" name="Shape 10"/>
          <p:cNvSpPr/>
          <p:nvPr/>
        </p:nvSpPr>
        <p:spPr>
          <a:xfrm>
            <a:off x="4425696" y="5029200"/>
            <a:ext cx="2144269" cy="411481"/>
          </a:xfrm>
          <a:prstGeom prst="roundRect">
            <a:avLst>
              <a:gd name="adj" fmla="val 48889"/>
            </a:avLst>
          </a:prstGeom>
          <a:solidFill>
            <a:srgbClr val="151E27"/>
          </a:solidFill>
          <a:ln w="12700">
            <a:solidFill>
              <a:srgbClr val="45A29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Text 11"/>
          <p:cNvSpPr txBox="1"/>
          <p:nvPr/>
        </p:nvSpPr>
        <p:spPr>
          <a:xfrm>
            <a:off x="4425696" y="5148533"/>
            <a:ext cx="214426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66FCF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Verifiable delivery</a:t>
            </a:r>
          </a:p>
        </p:txBody>
      </p:sp>
      <p:sp>
        <p:nvSpPr>
          <p:cNvPr id="32" name="Text 12"/>
          <p:cNvSpPr txBox="1"/>
          <p:nvPr/>
        </p:nvSpPr>
        <p:spPr>
          <a:xfrm>
            <a:off x="685800" y="6430609"/>
            <a:ext cx="265176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900">
                <a:solidFill>
                  <a:srgbClr val="8A97A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StelLock</a:t>
            </a:r>
          </a:p>
        </p:txBody>
      </p:sp>
      <p:sp>
        <p:nvSpPr>
          <p:cNvPr id="33" name="Text 13"/>
          <p:cNvSpPr txBox="1"/>
          <p:nvPr/>
        </p:nvSpPr>
        <p:spPr>
          <a:xfrm>
            <a:off x="7025334" y="6430609"/>
            <a:ext cx="448056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8A97A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BUILD ON STELLAR · Istanbul 2026 · 1/5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45A29E">
              <a:alpha val="1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Shape 1"/>
          <p:cNvSpPr/>
          <p:nvPr/>
        </p:nvSpPr>
        <p:spPr>
          <a:xfrm>
            <a:off x="8076895" y="3200400"/>
            <a:ext cx="5943601" cy="5943600"/>
          </a:xfrm>
          <a:prstGeom prst="ellipse">
            <a:avLst/>
          </a:prstGeom>
          <a:solidFill>
            <a:srgbClr val="66FCF1">
              <a:alpha val="8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Text 2"/>
          <p:cNvSpPr txBox="1"/>
          <p:nvPr/>
        </p:nvSpPr>
        <p:spPr>
          <a:xfrm>
            <a:off x="685800" y="503217"/>
            <a:ext cx="7223760" cy="548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100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38" name="Text 3"/>
          <p:cNvSpPr txBox="1"/>
          <p:nvPr/>
        </p:nvSpPr>
        <p:spPr>
          <a:xfrm>
            <a:off x="640080" y="1378842"/>
            <a:ext cx="3840480" cy="1357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600">
                <a:solidFill>
                  <a:srgbClr val="66FCF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71%</a:t>
            </a:r>
          </a:p>
        </p:txBody>
      </p:sp>
      <p:sp>
        <p:nvSpPr>
          <p:cNvPr id="39" name="Text 4"/>
          <p:cNvSpPr txBox="1"/>
          <p:nvPr/>
        </p:nvSpPr>
        <p:spPr>
          <a:xfrm>
            <a:off x="640079" y="2777211"/>
            <a:ext cx="4023361" cy="754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C5C6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of freelancers get burned, not because people are dishonest, but because online trust has no enforcement.</a:t>
            </a:r>
          </a:p>
        </p:txBody>
      </p:sp>
      <p:sp>
        <p:nvSpPr>
          <p:cNvPr id="40" name="Shape 5"/>
          <p:cNvSpPr/>
          <p:nvPr/>
        </p:nvSpPr>
        <p:spPr>
          <a:xfrm>
            <a:off x="640080" y="3749040"/>
            <a:ext cx="4023360" cy="868681"/>
          </a:xfrm>
          <a:prstGeom prst="roundRect">
            <a:avLst>
              <a:gd name="adj" fmla="val 8421"/>
            </a:avLst>
          </a:prstGeom>
          <a:solidFill>
            <a:srgbClr val="151E27"/>
          </a:solidFill>
          <a:ln w="12700">
            <a:solidFill>
              <a:srgbClr val="2C3A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" name="Text 6"/>
          <p:cNvSpPr txBox="1"/>
          <p:nvPr/>
        </p:nvSpPr>
        <p:spPr>
          <a:xfrm>
            <a:off x="868680" y="4084688"/>
            <a:ext cx="356616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Buyer:  </a:t>
            </a:r>
            <a:r>
              <a:rPr b="0" i="1">
                <a:solidFill>
                  <a:srgbClr val="C5C6C7"/>
                </a:solidFill>
              </a:rPr>
              <a:t>“let me see the work first”</a:t>
            </a:r>
          </a:p>
        </p:txBody>
      </p:sp>
      <p:sp>
        <p:nvSpPr>
          <p:cNvPr id="42" name="Shape 7"/>
          <p:cNvSpPr/>
          <p:nvPr/>
        </p:nvSpPr>
        <p:spPr>
          <a:xfrm>
            <a:off x="640080" y="4754879"/>
            <a:ext cx="4023360" cy="868681"/>
          </a:xfrm>
          <a:prstGeom prst="roundRect">
            <a:avLst>
              <a:gd name="adj" fmla="val 8421"/>
            </a:avLst>
          </a:prstGeom>
          <a:solidFill>
            <a:srgbClr val="151E27"/>
          </a:solidFill>
          <a:ln w="12700">
            <a:solidFill>
              <a:srgbClr val="2C3A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Text 8"/>
          <p:cNvSpPr txBox="1"/>
          <p:nvPr/>
        </p:nvSpPr>
        <p:spPr>
          <a:xfrm>
            <a:off x="868680" y="5090528"/>
            <a:ext cx="356616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Seller:  </a:t>
            </a:r>
            <a:r>
              <a:rPr b="0" i="1">
                <a:solidFill>
                  <a:srgbClr val="C5C6C7"/>
                </a:solidFill>
              </a:rPr>
              <a:t>“let me see the money first”</a:t>
            </a:r>
          </a:p>
        </p:txBody>
      </p:sp>
      <p:sp>
        <p:nvSpPr>
          <p:cNvPr id="44" name="Text 9"/>
          <p:cNvSpPr txBox="1"/>
          <p:nvPr/>
        </p:nvSpPr>
        <p:spPr>
          <a:xfrm>
            <a:off x="5440679" y="1443503"/>
            <a:ext cx="6035041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100" sz="1600">
                <a:solidFill>
                  <a:srgbClr val="45A29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Today's options hurt everyone</a:t>
            </a:r>
          </a:p>
        </p:txBody>
      </p:sp>
      <p:sp>
        <p:nvSpPr>
          <p:cNvPr id="45" name="Shape 10"/>
          <p:cNvSpPr/>
          <p:nvPr/>
        </p:nvSpPr>
        <p:spPr>
          <a:xfrm>
            <a:off x="5394959" y="1965960"/>
            <a:ext cx="6126481" cy="822961"/>
          </a:xfrm>
          <a:prstGeom prst="roundRect">
            <a:avLst>
              <a:gd name="adj" fmla="val 8889"/>
            </a:avLst>
          </a:prstGeom>
          <a:solidFill>
            <a:srgbClr val="151E27"/>
          </a:solidFill>
          <a:ln w="12700">
            <a:solidFill>
              <a:srgbClr val="2C3A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Text 11"/>
          <p:cNvSpPr txBox="1"/>
          <p:nvPr/>
        </p:nvSpPr>
        <p:spPr>
          <a:xfrm>
            <a:off x="5669279" y="2266463"/>
            <a:ext cx="219456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Upwork</a:t>
            </a:r>
          </a:p>
        </p:txBody>
      </p:sp>
      <p:sp>
        <p:nvSpPr>
          <p:cNvPr id="47" name="Text 12"/>
          <p:cNvSpPr txBox="1"/>
          <p:nvPr/>
        </p:nvSpPr>
        <p:spPr>
          <a:xfrm>
            <a:off x="7863840" y="2284890"/>
            <a:ext cx="33832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8A97A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20% fee · holds funds for weeks</a:t>
            </a:r>
          </a:p>
        </p:txBody>
      </p:sp>
      <p:sp>
        <p:nvSpPr>
          <p:cNvPr id="48" name="Shape 13"/>
          <p:cNvSpPr/>
          <p:nvPr/>
        </p:nvSpPr>
        <p:spPr>
          <a:xfrm>
            <a:off x="5394959" y="2926079"/>
            <a:ext cx="6126481" cy="822961"/>
          </a:xfrm>
          <a:prstGeom prst="roundRect">
            <a:avLst>
              <a:gd name="adj" fmla="val 8889"/>
            </a:avLst>
          </a:prstGeom>
          <a:solidFill>
            <a:srgbClr val="151E27"/>
          </a:solidFill>
          <a:ln w="12700">
            <a:solidFill>
              <a:srgbClr val="2C3A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Text 14"/>
          <p:cNvSpPr txBox="1"/>
          <p:nvPr/>
        </p:nvSpPr>
        <p:spPr>
          <a:xfrm>
            <a:off x="5669279" y="3226583"/>
            <a:ext cx="219456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Bank / SWIFT</a:t>
            </a:r>
          </a:p>
        </p:txBody>
      </p:sp>
      <p:sp>
        <p:nvSpPr>
          <p:cNvPr id="50" name="Text 15"/>
          <p:cNvSpPr txBox="1"/>
          <p:nvPr/>
        </p:nvSpPr>
        <p:spPr>
          <a:xfrm>
            <a:off x="7863840" y="3245010"/>
            <a:ext cx="33832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8A97A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3–5 days · high fees · slow</a:t>
            </a:r>
          </a:p>
        </p:txBody>
      </p:sp>
      <p:sp>
        <p:nvSpPr>
          <p:cNvPr id="51" name="Shape 16"/>
          <p:cNvSpPr/>
          <p:nvPr/>
        </p:nvSpPr>
        <p:spPr>
          <a:xfrm>
            <a:off x="5394959" y="3886200"/>
            <a:ext cx="6126481" cy="822961"/>
          </a:xfrm>
          <a:prstGeom prst="roundRect">
            <a:avLst>
              <a:gd name="adj" fmla="val 8889"/>
            </a:avLst>
          </a:prstGeom>
          <a:solidFill>
            <a:srgbClr val="151E27"/>
          </a:solidFill>
          <a:ln w="12700">
            <a:solidFill>
              <a:srgbClr val="2C3A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" name="Text 17"/>
          <p:cNvSpPr txBox="1"/>
          <p:nvPr/>
        </p:nvSpPr>
        <p:spPr>
          <a:xfrm>
            <a:off x="5669279" y="4186704"/>
            <a:ext cx="219456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Plain trust</a:t>
            </a:r>
          </a:p>
        </p:txBody>
      </p:sp>
      <p:sp>
        <p:nvSpPr>
          <p:cNvPr id="53" name="Text 18"/>
          <p:cNvSpPr txBox="1"/>
          <p:nvPr/>
        </p:nvSpPr>
        <p:spPr>
          <a:xfrm>
            <a:off x="7863840" y="4205130"/>
            <a:ext cx="33832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8A97A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someone always carries the risk</a:t>
            </a:r>
          </a:p>
        </p:txBody>
      </p:sp>
      <p:sp>
        <p:nvSpPr>
          <p:cNvPr id="54" name="Text 19"/>
          <p:cNvSpPr txBox="1"/>
          <p:nvPr/>
        </p:nvSpPr>
        <p:spPr>
          <a:xfrm>
            <a:off x="5394959" y="5161624"/>
            <a:ext cx="612648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2000">
                <a:solidFill>
                  <a:srgbClr val="66FCF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$1.5T</a:t>
            </a:r>
            <a:r>
              <a:rPr b="0" sz="1300">
                <a:solidFill>
                  <a:srgbClr val="8A97A0"/>
                </a:solidFill>
              </a:rPr>
              <a:t>  global freelance        </a:t>
            </a:r>
            <a:r>
              <a:t>$150B</a:t>
            </a:r>
            <a:r>
              <a:rPr b="0" sz="1300">
                <a:solidFill>
                  <a:srgbClr val="8A97A0"/>
                </a:solidFill>
              </a:rPr>
              <a:t>  cross-border payments</a:t>
            </a:r>
          </a:p>
        </p:txBody>
      </p:sp>
      <p:sp>
        <p:nvSpPr>
          <p:cNvPr id="55" name="Text 20"/>
          <p:cNvSpPr txBox="1"/>
          <p:nvPr/>
        </p:nvSpPr>
        <p:spPr>
          <a:xfrm>
            <a:off x="685800" y="6430609"/>
            <a:ext cx="265176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900">
                <a:solidFill>
                  <a:srgbClr val="8A97A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StelLock</a:t>
            </a:r>
          </a:p>
        </p:txBody>
      </p:sp>
      <p:sp>
        <p:nvSpPr>
          <p:cNvPr id="56" name="Text 21"/>
          <p:cNvSpPr txBox="1"/>
          <p:nvPr/>
        </p:nvSpPr>
        <p:spPr>
          <a:xfrm>
            <a:off x="7025334" y="6430609"/>
            <a:ext cx="448056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8A97A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BUILD ON STELLAR · Istanbul 2026 · 2/5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45A29E">
              <a:alpha val="1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Shape 1"/>
          <p:cNvSpPr/>
          <p:nvPr/>
        </p:nvSpPr>
        <p:spPr>
          <a:xfrm>
            <a:off x="8076895" y="3200400"/>
            <a:ext cx="5943601" cy="5943600"/>
          </a:xfrm>
          <a:prstGeom prst="ellipse">
            <a:avLst/>
          </a:prstGeom>
          <a:solidFill>
            <a:srgbClr val="66FCF1">
              <a:alpha val="8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" name="Text 2"/>
          <p:cNvSpPr txBox="1"/>
          <p:nvPr/>
        </p:nvSpPr>
        <p:spPr>
          <a:xfrm>
            <a:off x="685800" y="503217"/>
            <a:ext cx="8138160" cy="548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SOLUTION</a:t>
            </a:r>
          </a:p>
        </p:txBody>
      </p:sp>
      <p:sp>
        <p:nvSpPr>
          <p:cNvPr id="61" name="Text 3"/>
          <p:cNvSpPr txBox="1"/>
          <p:nvPr/>
        </p:nvSpPr>
        <p:spPr>
          <a:xfrm>
            <a:off x="640080" y="1357512"/>
            <a:ext cx="10972801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3000">
                <a:solidFill>
                  <a:srgbClr val="C5C6C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We move trust from people to </a:t>
            </a:r>
            <a:r>
              <a:rPr>
                <a:solidFill>
                  <a:srgbClr val="66FCF1"/>
                </a:solidFill>
              </a:rPr>
              <a:t>CODE.</a:t>
            </a:r>
          </a:p>
        </p:txBody>
      </p:sp>
      <p:sp>
        <p:nvSpPr>
          <p:cNvPr id="62" name="Text 4"/>
          <p:cNvSpPr txBox="1"/>
          <p:nvPr/>
        </p:nvSpPr>
        <p:spPr>
          <a:xfrm>
            <a:off x="685800" y="2073216"/>
            <a:ext cx="10881360" cy="517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500">
                <a:solidFill>
                  <a:srgbClr val="8A97A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Buyer locks funds → seller delivers with cryptographic proof → on verification, payment settles in seconds.</a:t>
            </a:r>
          </a:p>
          <a:p>
            <a:pPr>
              <a:defRPr sz="1500">
                <a:solidFill>
                  <a:srgbClr val="8A97A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 middleman, no commission.</a:t>
            </a:r>
          </a:p>
        </p:txBody>
      </p:sp>
      <p:sp>
        <p:nvSpPr>
          <p:cNvPr id="63" name="Text 5"/>
          <p:cNvSpPr txBox="1"/>
          <p:nvPr/>
        </p:nvSpPr>
        <p:spPr>
          <a:xfrm>
            <a:off x="685800" y="2918828"/>
            <a:ext cx="10881360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100" sz="1400">
                <a:solidFill>
                  <a:srgbClr val="45A29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makes us unique — a FIRST on Stellar</a:t>
            </a:r>
          </a:p>
        </p:txBody>
      </p:sp>
      <p:sp>
        <p:nvSpPr>
          <p:cNvPr id="64" name="Shape 6"/>
          <p:cNvSpPr/>
          <p:nvPr/>
        </p:nvSpPr>
        <p:spPr>
          <a:xfrm>
            <a:off x="640080" y="3383279"/>
            <a:ext cx="3413760" cy="2377441"/>
          </a:xfrm>
          <a:prstGeom prst="roundRect">
            <a:avLst>
              <a:gd name="adj" fmla="val 3077"/>
            </a:avLst>
          </a:prstGeom>
          <a:solidFill>
            <a:srgbClr val="151E27"/>
          </a:solidFill>
          <a:ln w="12700">
            <a:solidFill>
              <a:srgbClr val="2C3A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Shape 7"/>
          <p:cNvSpPr/>
          <p:nvPr/>
        </p:nvSpPr>
        <p:spPr>
          <a:xfrm>
            <a:off x="960119" y="3657600"/>
            <a:ext cx="640081" cy="640081"/>
          </a:xfrm>
          <a:prstGeom prst="ellipse">
            <a:avLst/>
          </a:prstGeom>
          <a:solidFill>
            <a:srgbClr val="0B0C10"/>
          </a:solidFill>
          <a:ln w="19050">
            <a:solidFill>
              <a:srgbClr val="66FCF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8"/>
          <p:cNvSpPr txBox="1"/>
          <p:nvPr/>
        </p:nvSpPr>
        <p:spPr>
          <a:xfrm>
            <a:off x="960119" y="3872806"/>
            <a:ext cx="64008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66FCF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ZK</a:t>
            </a:r>
          </a:p>
        </p:txBody>
      </p:sp>
      <p:sp>
        <p:nvSpPr>
          <p:cNvPr id="67" name="Text 9"/>
          <p:cNvSpPr txBox="1"/>
          <p:nvPr/>
        </p:nvSpPr>
        <p:spPr>
          <a:xfrm>
            <a:off x="914400" y="4689623"/>
            <a:ext cx="286512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On-chain Zero-Knowledge</a:t>
            </a:r>
          </a:p>
        </p:txBody>
      </p:sp>
      <p:sp>
        <p:nvSpPr>
          <p:cNvPr id="68" name="Text 10"/>
          <p:cNvSpPr txBox="1"/>
          <p:nvPr/>
        </p:nvSpPr>
        <p:spPr>
          <a:xfrm>
            <a:off x="914400" y="5140912"/>
            <a:ext cx="2865121" cy="350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C5C6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Amount stays hidden from public — yet verified on-chain by a Soroban contract.</a:t>
            </a:r>
          </a:p>
        </p:txBody>
      </p:sp>
      <p:sp>
        <p:nvSpPr>
          <p:cNvPr id="69" name="Shape 11"/>
          <p:cNvSpPr/>
          <p:nvPr/>
        </p:nvSpPr>
        <p:spPr>
          <a:xfrm>
            <a:off x="4419600" y="3383279"/>
            <a:ext cx="3413760" cy="2377441"/>
          </a:xfrm>
          <a:prstGeom prst="roundRect">
            <a:avLst>
              <a:gd name="adj" fmla="val 3077"/>
            </a:avLst>
          </a:prstGeom>
          <a:solidFill>
            <a:srgbClr val="151E27"/>
          </a:solidFill>
          <a:ln w="12700">
            <a:solidFill>
              <a:srgbClr val="2C3A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" name="Shape 12"/>
          <p:cNvSpPr/>
          <p:nvPr/>
        </p:nvSpPr>
        <p:spPr>
          <a:xfrm>
            <a:off x="4739640" y="3657600"/>
            <a:ext cx="640081" cy="640081"/>
          </a:xfrm>
          <a:prstGeom prst="ellipse">
            <a:avLst/>
          </a:prstGeom>
          <a:solidFill>
            <a:srgbClr val="0B0C10"/>
          </a:solidFill>
          <a:ln w="19050">
            <a:solidFill>
              <a:srgbClr val="66FCF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13"/>
          <p:cNvSpPr txBox="1"/>
          <p:nvPr/>
        </p:nvSpPr>
        <p:spPr>
          <a:xfrm>
            <a:off x="4739640" y="3872806"/>
            <a:ext cx="64008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66FCF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EN</a:t>
            </a:r>
          </a:p>
        </p:txBody>
      </p:sp>
      <p:sp>
        <p:nvSpPr>
          <p:cNvPr id="72" name="Text 14"/>
          <p:cNvSpPr txBox="1"/>
          <p:nvPr/>
        </p:nvSpPr>
        <p:spPr>
          <a:xfrm>
            <a:off x="4693920" y="4689623"/>
            <a:ext cx="286512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Multi-party encryption</a:t>
            </a:r>
          </a:p>
        </p:txBody>
      </p:sp>
      <p:sp>
        <p:nvSpPr>
          <p:cNvPr id="73" name="Text 15"/>
          <p:cNvSpPr txBox="1"/>
          <p:nvPr/>
        </p:nvSpPr>
        <p:spPr>
          <a:xfrm>
            <a:off x="4693920" y="5140912"/>
            <a:ext cx="2865121" cy="350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C5C6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Commercial terms are sealed — only buyer and seller can read them.</a:t>
            </a:r>
          </a:p>
        </p:txBody>
      </p:sp>
      <p:sp>
        <p:nvSpPr>
          <p:cNvPr id="74" name="Shape 16"/>
          <p:cNvSpPr/>
          <p:nvPr/>
        </p:nvSpPr>
        <p:spPr>
          <a:xfrm>
            <a:off x="8199119" y="3383279"/>
            <a:ext cx="3413761" cy="2377441"/>
          </a:xfrm>
          <a:prstGeom prst="roundRect">
            <a:avLst>
              <a:gd name="adj" fmla="val 3077"/>
            </a:avLst>
          </a:prstGeom>
          <a:solidFill>
            <a:srgbClr val="151E27"/>
          </a:solidFill>
          <a:ln w="12700">
            <a:solidFill>
              <a:srgbClr val="2C3A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Shape 17"/>
          <p:cNvSpPr/>
          <p:nvPr/>
        </p:nvSpPr>
        <p:spPr>
          <a:xfrm>
            <a:off x="8519159" y="3657600"/>
            <a:ext cx="640081" cy="640081"/>
          </a:xfrm>
          <a:prstGeom prst="ellipse">
            <a:avLst/>
          </a:prstGeom>
          <a:solidFill>
            <a:srgbClr val="0B0C10"/>
          </a:solidFill>
          <a:ln w="19050">
            <a:solidFill>
              <a:srgbClr val="66FCF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Text 18"/>
          <p:cNvSpPr txBox="1"/>
          <p:nvPr/>
        </p:nvSpPr>
        <p:spPr>
          <a:xfrm>
            <a:off x="8519159" y="3872806"/>
            <a:ext cx="64008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66FCF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VD</a:t>
            </a:r>
          </a:p>
        </p:txBody>
      </p:sp>
      <p:sp>
        <p:nvSpPr>
          <p:cNvPr id="77" name="Text 19"/>
          <p:cNvSpPr txBox="1"/>
          <p:nvPr/>
        </p:nvSpPr>
        <p:spPr>
          <a:xfrm>
            <a:off x="8473440" y="4689623"/>
            <a:ext cx="286512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Verifiable delivery</a:t>
            </a:r>
          </a:p>
        </p:txBody>
      </p:sp>
      <p:sp>
        <p:nvSpPr>
          <p:cNvPr id="78" name="Text 20"/>
          <p:cNvSpPr txBox="1"/>
          <p:nvPr/>
        </p:nvSpPr>
        <p:spPr>
          <a:xfrm>
            <a:off x="8473440" y="5140912"/>
            <a:ext cx="2865121" cy="350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C5C6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Not “I delivered” — a cryptographic proof the work is the real file.</a:t>
            </a:r>
          </a:p>
        </p:txBody>
      </p:sp>
      <p:sp>
        <p:nvSpPr>
          <p:cNvPr id="79" name="Text 21"/>
          <p:cNvSpPr txBox="1"/>
          <p:nvPr/>
        </p:nvSpPr>
        <p:spPr>
          <a:xfrm>
            <a:off x="685800" y="6430609"/>
            <a:ext cx="265176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900">
                <a:solidFill>
                  <a:srgbClr val="8A97A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StelLock</a:t>
            </a:r>
          </a:p>
        </p:txBody>
      </p:sp>
      <p:sp>
        <p:nvSpPr>
          <p:cNvPr id="80" name="Text 22"/>
          <p:cNvSpPr txBox="1"/>
          <p:nvPr/>
        </p:nvSpPr>
        <p:spPr>
          <a:xfrm>
            <a:off x="7025334" y="6430609"/>
            <a:ext cx="448056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8A97A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BUILD ON STELLAR · Istanbul 2026 · 3/5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45A29E">
              <a:alpha val="1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Shape 1"/>
          <p:cNvSpPr/>
          <p:nvPr/>
        </p:nvSpPr>
        <p:spPr>
          <a:xfrm>
            <a:off x="8076895" y="3200400"/>
            <a:ext cx="5943601" cy="5943600"/>
          </a:xfrm>
          <a:prstGeom prst="ellipse">
            <a:avLst/>
          </a:prstGeom>
          <a:solidFill>
            <a:srgbClr val="66FCF1">
              <a:alpha val="8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Text 2"/>
          <p:cNvSpPr txBox="1"/>
          <p:nvPr/>
        </p:nvSpPr>
        <p:spPr>
          <a:xfrm>
            <a:off x="685800" y="503217"/>
            <a:ext cx="9966960" cy="548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TECHNICAL WORKFLOW</a:t>
            </a:r>
          </a:p>
        </p:txBody>
      </p:sp>
      <p:sp>
        <p:nvSpPr>
          <p:cNvPr id="85" name="Shape 3"/>
          <p:cNvSpPr/>
          <p:nvPr/>
        </p:nvSpPr>
        <p:spPr>
          <a:xfrm>
            <a:off x="640080" y="137160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151E27"/>
          </a:solidFill>
          <a:ln w="12700">
            <a:solidFill>
              <a:srgbClr val="2C3A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Shape 4"/>
          <p:cNvSpPr/>
          <p:nvPr/>
        </p:nvSpPr>
        <p:spPr>
          <a:xfrm>
            <a:off x="932688" y="1645920"/>
            <a:ext cx="457201" cy="457201"/>
          </a:xfrm>
          <a:prstGeom prst="ellipse">
            <a:avLst/>
          </a:prstGeom>
          <a:solidFill>
            <a:srgbClr val="66FCF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Text 5"/>
          <p:cNvSpPr txBox="1"/>
          <p:nvPr/>
        </p:nvSpPr>
        <p:spPr>
          <a:xfrm>
            <a:off x="932688" y="1763543"/>
            <a:ext cx="4572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0B0C1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8" name="Text 6"/>
          <p:cNvSpPr txBox="1"/>
          <p:nvPr/>
        </p:nvSpPr>
        <p:spPr>
          <a:xfrm>
            <a:off x="1554480" y="1743338"/>
            <a:ext cx="2286001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rgbClr val="66FCF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DEPOSIT</a:t>
            </a:r>
          </a:p>
        </p:txBody>
      </p:sp>
      <p:sp>
        <p:nvSpPr>
          <p:cNvPr id="89" name="Text 7"/>
          <p:cNvSpPr txBox="1"/>
          <p:nvPr/>
        </p:nvSpPr>
        <p:spPr>
          <a:xfrm>
            <a:off x="932688" y="2461628"/>
            <a:ext cx="283464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Buyer locks USDC</a:t>
            </a:r>
          </a:p>
        </p:txBody>
      </p:sp>
      <p:sp>
        <p:nvSpPr>
          <p:cNvPr id="90" name="Text 8"/>
          <p:cNvSpPr txBox="1"/>
          <p:nvPr/>
        </p:nvSpPr>
        <p:spPr>
          <a:xfrm>
            <a:off x="932687" y="3164792"/>
            <a:ext cx="2816354" cy="528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C5C6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Groth16 ZK proof hides the amount → Soroban contract verifies it ON-CHAIN (BLS12-381)</a:t>
            </a:r>
          </a:p>
        </p:txBody>
      </p:sp>
      <p:sp>
        <p:nvSpPr>
          <p:cNvPr id="91" name="Text 9"/>
          <p:cNvSpPr txBox="1"/>
          <p:nvPr/>
        </p:nvSpPr>
        <p:spPr>
          <a:xfrm>
            <a:off x="4041647" y="2582670"/>
            <a:ext cx="374905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45A29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92" name="Shape 10"/>
          <p:cNvSpPr/>
          <p:nvPr/>
        </p:nvSpPr>
        <p:spPr>
          <a:xfrm>
            <a:off x="4434840" y="1371600"/>
            <a:ext cx="3383281" cy="2743200"/>
          </a:xfrm>
          <a:prstGeom prst="roundRect">
            <a:avLst>
              <a:gd name="adj" fmla="val 2667"/>
            </a:avLst>
          </a:prstGeom>
          <a:solidFill>
            <a:srgbClr val="151E27"/>
          </a:solidFill>
          <a:ln w="12700">
            <a:solidFill>
              <a:srgbClr val="2C3A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Shape 11"/>
          <p:cNvSpPr/>
          <p:nvPr/>
        </p:nvSpPr>
        <p:spPr>
          <a:xfrm>
            <a:off x="4727447" y="1645920"/>
            <a:ext cx="457201" cy="457201"/>
          </a:xfrm>
          <a:prstGeom prst="ellipse">
            <a:avLst/>
          </a:prstGeom>
          <a:solidFill>
            <a:srgbClr val="66FCF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Text 12"/>
          <p:cNvSpPr txBox="1"/>
          <p:nvPr/>
        </p:nvSpPr>
        <p:spPr>
          <a:xfrm>
            <a:off x="4727447" y="1763543"/>
            <a:ext cx="4572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0B0C1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95" name="Text 13"/>
          <p:cNvSpPr txBox="1"/>
          <p:nvPr/>
        </p:nvSpPr>
        <p:spPr>
          <a:xfrm>
            <a:off x="5349240" y="1743338"/>
            <a:ext cx="2286001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rgbClr val="66FCF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DELIVER</a:t>
            </a:r>
          </a:p>
        </p:txBody>
      </p:sp>
      <p:sp>
        <p:nvSpPr>
          <p:cNvPr id="96" name="Text 14"/>
          <p:cNvSpPr txBox="1"/>
          <p:nvPr/>
        </p:nvSpPr>
        <p:spPr>
          <a:xfrm>
            <a:off x="4727447" y="2461628"/>
            <a:ext cx="283464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Seller proves the work</a:t>
            </a:r>
          </a:p>
        </p:txBody>
      </p:sp>
      <p:sp>
        <p:nvSpPr>
          <p:cNvPr id="97" name="Text 15"/>
          <p:cNvSpPr txBox="1"/>
          <p:nvPr/>
        </p:nvSpPr>
        <p:spPr>
          <a:xfrm>
            <a:off x="4727447" y="3253692"/>
            <a:ext cx="2816353" cy="350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C5C6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File encrypted → uploaded to IPFS → SHA-256 hash written to Stellar</a:t>
            </a:r>
          </a:p>
        </p:txBody>
      </p:sp>
      <p:sp>
        <p:nvSpPr>
          <p:cNvPr id="98" name="Text 16"/>
          <p:cNvSpPr txBox="1"/>
          <p:nvPr/>
        </p:nvSpPr>
        <p:spPr>
          <a:xfrm>
            <a:off x="7836407" y="2582670"/>
            <a:ext cx="374905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45A29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99" name="Shape 17"/>
          <p:cNvSpPr/>
          <p:nvPr/>
        </p:nvSpPr>
        <p:spPr>
          <a:xfrm>
            <a:off x="8229600" y="137160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151E27"/>
          </a:solidFill>
          <a:ln w="12700">
            <a:solidFill>
              <a:srgbClr val="2C3A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Shape 18"/>
          <p:cNvSpPr/>
          <p:nvPr/>
        </p:nvSpPr>
        <p:spPr>
          <a:xfrm>
            <a:off x="8522207" y="1645920"/>
            <a:ext cx="457201" cy="457201"/>
          </a:xfrm>
          <a:prstGeom prst="ellipse">
            <a:avLst/>
          </a:prstGeom>
          <a:solidFill>
            <a:srgbClr val="66FCF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Text 19"/>
          <p:cNvSpPr txBox="1"/>
          <p:nvPr/>
        </p:nvSpPr>
        <p:spPr>
          <a:xfrm>
            <a:off x="8522207" y="1763543"/>
            <a:ext cx="4572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0B0C1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02" name="Text 20"/>
          <p:cNvSpPr txBox="1"/>
          <p:nvPr/>
        </p:nvSpPr>
        <p:spPr>
          <a:xfrm>
            <a:off x="9144000" y="1743338"/>
            <a:ext cx="2286000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rgbClr val="66FCF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RELEASE</a:t>
            </a:r>
          </a:p>
        </p:txBody>
      </p:sp>
      <p:sp>
        <p:nvSpPr>
          <p:cNvPr id="103" name="Text 21"/>
          <p:cNvSpPr txBox="1"/>
          <p:nvPr/>
        </p:nvSpPr>
        <p:spPr>
          <a:xfrm>
            <a:off x="8522207" y="2461628"/>
            <a:ext cx="283464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Buyer verifies &amp; pays</a:t>
            </a:r>
          </a:p>
        </p:txBody>
      </p:sp>
      <p:sp>
        <p:nvSpPr>
          <p:cNvPr id="104" name="Text 22"/>
          <p:cNvSpPr txBox="1"/>
          <p:nvPr/>
        </p:nvSpPr>
        <p:spPr>
          <a:xfrm>
            <a:off x="8522207" y="3164792"/>
            <a:ext cx="2816353" cy="528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C5C6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Hash matches on-chain evidence → payment settles in seconds (arbiter on dispute)</a:t>
            </a:r>
          </a:p>
        </p:txBody>
      </p:sp>
      <p:sp>
        <p:nvSpPr>
          <p:cNvPr id="105" name="Text 23"/>
          <p:cNvSpPr txBox="1"/>
          <p:nvPr/>
        </p:nvSpPr>
        <p:spPr>
          <a:xfrm>
            <a:off x="640080" y="4627706"/>
            <a:ext cx="10972801" cy="254348"/>
          </a:xfrm>
          <a:prstGeom prst="rect">
            <a:avLst/>
          </a:prstGeom>
          <a:solidFill>
            <a:srgbClr val="151E27"/>
          </a:solidFill>
          <a:ln w="12700">
            <a:solidFill>
              <a:srgbClr val="2C3A47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/>
            <a:r>
              <a:rPr>
                <a:solidFill>
                  <a:schemeClr val="accent1">
                    <a:satOff val="-3547"/>
                    <a:lumOff val="-10352"/>
                  </a:schemeClr>
                </a:solidFill>
              </a:rPr>
              <a:t>STACK</a:t>
            </a:r>
            <a:r>
              <a:t>   </a:t>
            </a:r>
            <a:r>
              <a:rPr sz="1300">
                <a:solidFill>
                  <a:srgbClr val="C5C6C7"/>
                </a:solidFill>
                <a:latin typeface="Arial"/>
                <a:ea typeface="Arial"/>
                <a:cs typeface="Arial"/>
                <a:sym typeface="Arial"/>
              </a:rPr>
              <a:t>Soroban · SvelteKit · Passkey/Freighter · IPFS · Trustless Work</a:t>
            </a:r>
          </a:p>
        </p:txBody>
      </p:sp>
      <p:sp>
        <p:nvSpPr>
          <p:cNvPr id="106" name="Shape 24"/>
          <p:cNvSpPr/>
          <p:nvPr/>
        </p:nvSpPr>
        <p:spPr>
          <a:xfrm>
            <a:off x="640080" y="5120640"/>
            <a:ext cx="10972801" cy="914401"/>
          </a:xfrm>
          <a:prstGeom prst="roundRect">
            <a:avLst>
              <a:gd name="adj" fmla="val 8000"/>
            </a:avLst>
          </a:prstGeom>
          <a:solidFill>
            <a:srgbClr val="10201A"/>
          </a:solidFill>
          <a:ln w="12700">
            <a:solidFill>
              <a:srgbClr val="2C3A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Shape 25"/>
          <p:cNvSpPr/>
          <p:nvPr/>
        </p:nvSpPr>
        <p:spPr>
          <a:xfrm>
            <a:off x="960119" y="5440679"/>
            <a:ext cx="256033" cy="256033"/>
          </a:xfrm>
          <a:prstGeom prst="ellipse">
            <a:avLst/>
          </a:prstGeom>
          <a:solidFill>
            <a:srgbClr val="4CAF5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Text 26"/>
          <p:cNvSpPr txBox="1"/>
          <p:nvPr/>
        </p:nvSpPr>
        <p:spPr>
          <a:xfrm>
            <a:off x="1417319" y="5473006"/>
            <a:ext cx="1005840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LIVE on Stellar testnet</a:t>
            </a:r>
            <a:r>
              <a:rPr b="0" sz="1300">
                <a:solidFill>
                  <a:srgbClr val="8A97A0"/>
                </a:solidFill>
              </a:rPr>
              <a:t>     ZK Verifier contract: </a:t>
            </a:r>
            <a:r>
              <a:rPr sz="1300">
                <a:solidFill>
                  <a:srgbClr val="66FCF1"/>
                </a:solidFill>
              </a:rPr>
              <a:t>CA2SV33E…BSVJDAQ</a:t>
            </a:r>
            <a:r>
              <a:rPr b="0" sz="1200">
                <a:solidFill>
                  <a:srgbClr val="8A97A0"/>
                </a:solidFill>
              </a:rPr>
              <a:t>   (verifiable on StellarExpert)</a:t>
            </a:r>
          </a:p>
        </p:txBody>
      </p:sp>
      <p:sp>
        <p:nvSpPr>
          <p:cNvPr id="109" name="Text 27"/>
          <p:cNvSpPr txBox="1"/>
          <p:nvPr/>
        </p:nvSpPr>
        <p:spPr>
          <a:xfrm>
            <a:off x="685800" y="6430609"/>
            <a:ext cx="265176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900">
                <a:solidFill>
                  <a:srgbClr val="8A97A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StelLock</a:t>
            </a:r>
          </a:p>
        </p:txBody>
      </p:sp>
      <p:sp>
        <p:nvSpPr>
          <p:cNvPr id="110" name="Text 28"/>
          <p:cNvSpPr txBox="1"/>
          <p:nvPr/>
        </p:nvSpPr>
        <p:spPr>
          <a:xfrm>
            <a:off x="7025334" y="6430609"/>
            <a:ext cx="448056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8A97A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BUILD ON STELLAR · Istanbul 2026 · 4/5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-2227911" y="-1965961"/>
            <a:ext cx="5486401" cy="5486401"/>
          </a:xfrm>
          <a:prstGeom prst="ellipse">
            <a:avLst/>
          </a:prstGeom>
          <a:solidFill>
            <a:srgbClr val="45A29E">
              <a:alpha val="1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Shape 1"/>
          <p:cNvSpPr/>
          <p:nvPr/>
        </p:nvSpPr>
        <p:spPr>
          <a:xfrm>
            <a:off x="8076895" y="3200400"/>
            <a:ext cx="5943601" cy="5943600"/>
          </a:xfrm>
          <a:prstGeom prst="ellipse">
            <a:avLst/>
          </a:prstGeom>
          <a:solidFill>
            <a:srgbClr val="66FCF1">
              <a:alpha val="8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Text 2"/>
          <p:cNvSpPr txBox="1"/>
          <p:nvPr/>
        </p:nvSpPr>
        <p:spPr>
          <a:xfrm>
            <a:off x="685800" y="503217"/>
            <a:ext cx="8138160" cy="548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TEAM</a:t>
            </a:r>
          </a:p>
        </p:txBody>
      </p:sp>
      <p:sp>
        <p:nvSpPr>
          <p:cNvPr id="115" name="Text 3"/>
          <p:cNvSpPr txBox="1"/>
          <p:nvPr/>
        </p:nvSpPr>
        <p:spPr>
          <a:xfrm>
            <a:off x="685800" y="1260623"/>
            <a:ext cx="10881360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8A97A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Two builders — deep tech and a shipped product.</a:t>
            </a:r>
          </a:p>
        </p:txBody>
      </p:sp>
      <p:sp>
        <p:nvSpPr>
          <p:cNvPr id="116" name="Shape 4"/>
          <p:cNvSpPr/>
          <p:nvPr/>
        </p:nvSpPr>
        <p:spPr>
          <a:xfrm>
            <a:off x="640080" y="4470400"/>
            <a:ext cx="5257801" cy="1554481"/>
          </a:xfrm>
          <a:prstGeom prst="roundRect">
            <a:avLst>
              <a:gd name="adj" fmla="val 4706"/>
            </a:avLst>
          </a:prstGeom>
          <a:solidFill>
            <a:srgbClr val="151E27"/>
          </a:solidFill>
          <a:ln w="12700">
            <a:solidFill>
              <a:srgbClr val="2C3A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Shape 5"/>
          <p:cNvSpPr/>
          <p:nvPr/>
        </p:nvSpPr>
        <p:spPr>
          <a:xfrm>
            <a:off x="960119" y="4881879"/>
            <a:ext cx="731522" cy="731521"/>
          </a:xfrm>
          <a:prstGeom prst="ellipse">
            <a:avLst/>
          </a:prstGeom>
          <a:solidFill>
            <a:srgbClr val="0B0C10"/>
          </a:solidFill>
          <a:ln w="19050">
            <a:solidFill>
              <a:srgbClr val="45A29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Text 7"/>
          <p:cNvSpPr txBox="1"/>
          <p:nvPr/>
        </p:nvSpPr>
        <p:spPr>
          <a:xfrm>
            <a:off x="1920239" y="4889429"/>
            <a:ext cx="3703322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Enes Bushi</a:t>
            </a:r>
          </a:p>
        </p:txBody>
      </p:sp>
      <p:sp>
        <p:nvSpPr>
          <p:cNvPr id="119" name="Text 8"/>
          <p:cNvSpPr txBox="1"/>
          <p:nvPr/>
        </p:nvSpPr>
        <p:spPr>
          <a:xfrm>
            <a:off x="1920239" y="5310538"/>
            <a:ext cx="370332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66FCF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Product Manager</a:t>
            </a:r>
          </a:p>
        </p:txBody>
      </p:sp>
      <p:sp>
        <p:nvSpPr>
          <p:cNvPr id="120" name="Shape 10"/>
          <p:cNvSpPr/>
          <p:nvPr/>
        </p:nvSpPr>
        <p:spPr>
          <a:xfrm>
            <a:off x="6355079" y="4470400"/>
            <a:ext cx="5257801" cy="1554481"/>
          </a:xfrm>
          <a:prstGeom prst="roundRect">
            <a:avLst>
              <a:gd name="adj" fmla="val 4706"/>
            </a:avLst>
          </a:prstGeom>
          <a:solidFill>
            <a:srgbClr val="151E27"/>
          </a:solidFill>
          <a:ln w="12700">
            <a:solidFill>
              <a:srgbClr val="2C3A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Shape 11"/>
          <p:cNvSpPr/>
          <p:nvPr/>
        </p:nvSpPr>
        <p:spPr>
          <a:xfrm>
            <a:off x="6675119" y="4881879"/>
            <a:ext cx="731521" cy="731521"/>
          </a:xfrm>
          <a:prstGeom prst="ellipse">
            <a:avLst/>
          </a:prstGeom>
          <a:solidFill>
            <a:srgbClr val="0B0C10"/>
          </a:solidFill>
          <a:ln w="19050">
            <a:solidFill>
              <a:srgbClr val="45A29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Text 13"/>
          <p:cNvSpPr txBox="1"/>
          <p:nvPr/>
        </p:nvSpPr>
        <p:spPr>
          <a:xfrm>
            <a:off x="7635240" y="4889429"/>
            <a:ext cx="370332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Mehmet Çelebi</a:t>
            </a:r>
          </a:p>
        </p:txBody>
      </p:sp>
      <p:sp>
        <p:nvSpPr>
          <p:cNvPr id="123" name="Text 14"/>
          <p:cNvSpPr txBox="1"/>
          <p:nvPr/>
        </p:nvSpPr>
        <p:spPr>
          <a:xfrm>
            <a:off x="7635240" y="5310538"/>
            <a:ext cx="370332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66FCF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Software Engineer</a:t>
            </a:r>
          </a:p>
        </p:txBody>
      </p:sp>
      <p:sp>
        <p:nvSpPr>
          <p:cNvPr id="124" name="Text 29"/>
          <p:cNvSpPr txBox="1"/>
          <p:nvPr/>
        </p:nvSpPr>
        <p:spPr>
          <a:xfrm>
            <a:off x="685800" y="6430609"/>
            <a:ext cx="265176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900">
                <a:solidFill>
                  <a:srgbClr val="8A97A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StelLock</a:t>
            </a:r>
          </a:p>
        </p:txBody>
      </p:sp>
      <p:sp>
        <p:nvSpPr>
          <p:cNvPr id="125" name="Text 30"/>
          <p:cNvSpPr txBox="1"/>
          <p:nvPr/>
        </p:nvSpPr>
        <p:spPr>
          <a:xfrm>
            <a:off x="7025334" y="6430609"/>
            <a:ext cx="448056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8A97A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BUILD ON STELLAR · Istanbul 2026 · 5/5</a:t>
            </a:r>
          </a:p>
        </p:txBody>
      </p:sp>
      <p:pic>
        <p:nvPicPr>
          <p:cNvPr id="126" name="IMG_2179.jpg" descr="IMG_2179.jpg"/>
          <p:cNvPicPr>
            <a:picLocks noChangeAspect="1"/>
          </p:cNvPicPr>
          <p:nvPr/>
        </p:nvPicPr>
        <p:blipFill>
          <a:blip r:embed="rId2">
            <a:extLst/>
          </a:blip>
          <a:srcRect l="62665" t="43994" r="2556" b="22672"/>
          <a:stretch>
            <a:fillRect/>
          </a:stretch>
        </p:blipFill>
        <p:spPr>
          <a:xfrm>
            <a:off x="2203767" y="1657553"/>
            <a:ext cx="2130561" cy="27227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WhatsApp Image 2026-06-03 at 10.30.46.jpeg" descr="WhatsApp Image 2026-06-03 at 10.30.46.jpeg"/>
          <p:cNvPicPr>
            <a:picLocks noChangeAspect="1"/>
          </p:cNvPicPr>
          <p:nvPr/>
        </p:nvPicPr>
        <p:blipFill>
          <a:blip r:embed="rId3">
            <a:extLst/>
          </a:blip>
          <a:srcRect l="7151" t="0" r="7151" b="0"/>
          <a:stretch>
            <a:fillRect/>
          </a:stretch>
        </p:blipFill>
        <p:spPr>
          <a:xfrm>
            <a:off x="7817227" y="1657553"/>
            <a:ext cx="2333506" cy="27229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